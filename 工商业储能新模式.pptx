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工商业储能新模式：市场电价下的盈利逻辑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DCFF"/>
                </a:solidFill>
              </a:defRPr>
            </a:pPr>
            <a:r>
              <a:t>从行政电价 → 市场电价，储能盈利模式从【表前套利】演变为【表后电力交易】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03520" cy="2286000"/>
          </a:xfrm>
          <a:prstGeom prst="rect">
            <a:avLst/>
          </a:prstGeom>
          <a:solidFill>
            <a:srgbClr val="1E5AA0"/>
          </a:solidFill>
          <a:ln>
            <a:solidFill>
              <a:srgbClr val="3C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C64"/>
                </a:solidFill>
              </a:defRPr>
            </a:pPr>
            <a:r>
              <a:t>🔋 模式一：现货日间套利（短期）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电力交易商（售电代理商）通过储能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在现货市场实时低买高卖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降低全年购电成本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提高售电利润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5852160" cy="2286000"/>
          </a:xfrm>
          <a:prstGeom prst="rect">
            <a:avLst/>
          </a:prstGeom>
          <a:solidFill>
            <a:srgbClr val="1E5AA0"/>
          </a:solidFill>
          <a:ln>
            <a:solidFill>
              <a:srgbClr val="3C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55448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DC64"/>
                </a:solidFill>
              </a:defRPr>
            </a:pPr>
            <a:r>
              <a:t>⚡ 模式二：虚拟电厂（中期）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96596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储能作为调节资源参与虚拟电厂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减少中长期购电比例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增加现货购电比例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进一步降低购电成本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931920"/>
            <a:ext cx="11430000" cy="2651760"/>
          </a:xfrm>
          <a:prstGeom prst="rect">
            <a:avLst/>
          </a:prstGeom>
          <a:solidFill>
            <a:srgbClr val="143C64"/>
          </a:solidFill>
          <a:ln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4FFC8"/>
                </a:solidFill>
              </a:defRPr>
            </a:pPr>
            <a:r>
              <a:t>🎯 对储能产品的要求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26280"/>
            <a:ext cx="5394960" cy="1828800"/>
          </a:xfrm>
          <a:prstGeom prst="rect">
            <a:avLst/>
          </a:prstGeom>
          <a:solidFill>
            <a:srgbClr val="285082"/>
          </a:solidFill>
          <a:ln>
            <a:solidFill>
              <a:srgbClr val="5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C64"/>
                </a:solidFill>
              </a:defRPr>
            </a:pPr>
            <a:r>
              <a:t>① 模块化快速安装</a:t>
            </a:r>
          </a:p>
          <a:p>
            <a:pPr>
              <a:defRPr sz="1300">
                <a:solidFill>
                  <a:srgbClr val="DCF0FF"/>
                </a:solidFill>
              </a:defRPr>
            </a:pPr>
            <a:r>
              <a:t>• 可快速安装、拆除、物流转运</a:t>
            </a:r>
          </a:p>
          <a:p>
            <a:pPr>
              <a:defRPr sz="1300">
                <a:solidFill>
                  <a:srgbClr val="DCF0FF"/>
                </a:solidFill>
              </a:defRPr>
            </a:pPr>
            <a:r>
              <a:t>• 不需要打地基</a:t>
            </a:r>
          </a:p>
          <a:p>
            <a:pPr>
              <a:defRPr sz="1300">
                <a:solidFill>
                  <a:srgbClr val="DCF0FF"/>
                </a:solidFill>
              </a:defRPr>
            </a:pPr>
            <a:r>
              <a:t>• 适应1年1签的购电合同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4526280"/>
            <a:ext cx="5577840" cy="1828800"/>
          </a:xfrm>
          <a:prstGeom prst="rect">
            <a:avLst/>
          </a:prstGeom>
          <a:solidFill>
            <a:srgbClr val="285082"/>
          </a:solidFill>
          <a:ln>
            <a:solidFill>
              <a:srgbClr val="5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57200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C64"/>
                </a:solidFill>
              </a:defRPr>
            </a:pPr>
            <a:r>
              <a:t>② 支持虚拟电厂牌照</a:t>
            </a:r>
          </a:p>
          <a:p>
            <a:pPr>
              <a:defRPr sz="1300">
                <a:solidFill>
                  <a:srgbClr val="DCF0FF"/>
                </a:solidFill>
              </a:defRPr>
            </a:pPr>
            <a:r>
              <a:t>• 可搭载可调节负荷测试</a:t>
            </a:r>
          </a:p>
          <a:p>
            <a:pPr>
              <a:defRPr sz="1300">
                <a:solidFill>
                  <a:srgbClr val="DCF0FF"/>
                </a:solidFill>
              </a:defRPr>
            </a:pPr>
            <a:r>
              <a:t>• 拿到牌照后可拆除搬运</a:t>
            </a:r>
          </a:p>
          <a:p>
            <a:pPr>
              <a:defRPr sz="1300">
                <a:solidFill>
                  <a:srgbClr val="DCF0FF"/>
                </a:solidFill>
              </a:defRPr>
            </a:pPr>
            <a:r>
              <a:t>• 用于下一个负荷厂区测试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