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工业节能解决方案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矿山与汽车制造零碳园区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一、通用节能技术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1. 能源管理系统(EMS)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Oval 3"/>
          <p:cNvSpPr/>
          <p:nvPr/>
        </p:nvSpPr>
        <p:spPr>
          <a:xfrm>
            <a:off x="457200" y="1188720"/>
            <a:ext cx="182880" cy="1828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22"/>
                </a:solidFill>
              </a:defRPr>
            </a:pPr>
            <a:r>
              <a:t>系统功能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实时能耗监测与数据分析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多能互补智能调度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碳排放核算与管理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能耗异常预警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0175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能效对标分析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3832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移动端远程监控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2. 设备变频改造(VFD)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Oval 3"/>
          <p:cNvSpPr/>
          <p:nvPr/>
        </p:nvSpPr>
        <p:spPr>
          <a:xfrm>
            <a:off x="457200" y="1188720"/>
            <a:ext cx="182880" cy="1828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22"/>
                </a:solidFill>
              </a:defRPr>
            </a:pPr>
            <a:r>
              <a:t>改造范围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电机变频驱动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水泵变频调速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空压机变频控制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风机变频调节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0175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空调系统变频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3832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传送带变频驱动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3" name="Oval 12"/>
          <p:cNvSpPr/>
          <p:nvPr/>
        </p:nvSpPr>
        <p:spPr>
          <a:xfrm>
            <a:off x="457200" y="4206240"/>
            <a:ext cx="182880" cy="1828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22"/>
                </a:solidFill>
              </a:defRPr>
            </a:pPr>
            <a:r>
              <a:t>节能效果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综合节能15%-30%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降低设备启动电流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延长设备寿命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减少维护成本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0175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提高功率因数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 余热回收利用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Oval 3"/>
          <p:cNvSpPr/>
          <p:nvPr/>
        </p:nvSpPr>
        <p:spPr>
          <a:xfrm>
            <a:off x="457200" y="1188720"/>
            <a:ext cx="182880" cy="1828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22"/>
                </a:solidFill>
              </a:defRPr>
            </a:pPr>
            <a:r>
              <a:t>回收方式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烟气余热回收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废水余热回收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设备散热回收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工艺余热回收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0175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余热锅炉利用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3832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余热制冷空调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3" name="Oval 12"/>
          <p:cNvSpPr/>
          <p:nvPr/>
        </p:nvSpPr>
        <p:spPr>
          <a:xfrm>
            <a:off x="457200" y="4206240"/>
            <a:ext cx="182880" cy="1828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22"/>
                </a:solidFill>
              </a:defRPr>
            </a:pPr>
            <a:r>
              <a:t>应用场景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预热助燃空气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生产生活热水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冬季供暖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吸收式制冷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0175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余热发电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 智能照明系统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Oval 3"/>
          <p:cNvSpPr/>
          <p:nvPr/>
        </p:nvSpPr>
        <p:spPr>
          <a:xfrm>
            <a:off x="457200" y="1188720"/>
            <a:ext cx="182880" cy="1828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22"/>
                </a:solidFill>
              </a:defRPr>
            </a:pPr>
            <a:r>
              <a:t>技术措施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LED灯具替换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光照度传感器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人体感应控制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时间场景控制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0175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光照分区调节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3832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智能照明管理系统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3" name="Oval 12"/>
          <p:cNvSpPr/>
          <p:nvPr/>
        </p:nvSpPr>
        <p:spPr>
          <a:xfrm>
            <a:off x="457200" y="4206240"/>
            <a:ext cx="182880" cy="1828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22"/>
                </a:solidFill>
              </a:defRPr>
            </a:pPr>
            <a:r>
              <a:t>节能效果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节能50%-70%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自动调光补偿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故障自动报警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寿命长达5万小时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 建筑节能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Oval 3"/>
          <p:cNvSpPr/>
          <p:nvPr/>
        </p:nvSpPr>
        <p:spPr>
          <a:xfrm>
            <a:off x="457200" y="1188720"/>
            <a:ext cx="182880" cy="1828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22"/>
                </a:solidFill>
              </a:defRPr>
            </a:pPr>
            <a:r>
              <a:t>围护结构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外墙保温系统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节能门窗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屋面隔热防水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外墙反射隔热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79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" name="Oval 10"/>
          <p:cNvSpPr/>
          <p:nvPr/>
        </p:nvSpPr>
        <p:spPr>
          <a:xfrm>
            <a:off x="457200" y="3474720"/>
            <a:ext cx="182880" cy="1828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83279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22"/>
                </a:solidFill>
              </a:defRPr>
            </a:pPr>
            <a:r>
              <a:t>空调系统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7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高效节能机组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智能温控系统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新风热回收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分区独立控制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二、汽车制造节能方案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1. 工业炉窑节能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Oval 3"/>
          <p:cNvSpPr/>
          <p:nvPr/>
        </p:nvSpPr>
        <p:spPr>
          <a:xfrm>
            <a:off x="457200" y="1188720"/>
            <a:ext cx="182880" cy="1828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蓄热式燃烧技术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高温空气燃烧(HTAC)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蓄热式烧嘴(Regen)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脉冲燃烧控制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炉温均匀性优化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79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" name="Oval 10"/>
          <p:cNvSpPr/>
          <p:nvPr/>
        </p:nvSpPr>
        <p:spPr>
          <a:xfrm>
            <a:off x="457200" y="3474720"/>
            <a:ext cx="182880" cy="1828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83279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余热回收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7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烟气余热预热空气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余热锅炉产蒸汽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余热回收用于涂装前处理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3776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7" name="Oval 16"/>
          <p:cNvSpPr/>
          <p:nvPr/>
        </p:nvSpPr>
        <p:spPr>
          <a:xfrm>
            <a:off x="457200" y="5029200"/>
            <a:ext cx="182880" cy="1828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智能控制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94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分区温度精确控制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炉压自动调节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燃烧优化算法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故障诊断预警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2. 涂装车间节能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Oval 3"/>
          <p:cNvSpPr/>
          <p:nvPr/>
        </p:nvSpPr>
        <p:spPr>
          <a:xfrm>
            <a:off x="457200" y="1188720"/>
            <a:ext cx="182880" cy="1828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废气余热回收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RTO废热回收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涂装废气余热利用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烘干室余热回收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" name="Oval 9"/>
          <p:cNvSpPr/>
          <p:nvPr/>
        </p:nvSpPr>
        <p:spPr>
          <a:xfrm>
            <a:off x="457200" y="3108960"/>
            <a:ext cx="182880" cy="1828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工艺优化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水性漆替代溶剂漆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紧凑型涂装工艺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机器人自动喷涂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高效换色系统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7" name="Oval 16"/>
          <p:cNvSpPr/>
          <p:nvPr/>
        </p:nvSpPr>
        <p:spPr>
          <a:xfrm>
            <a:off x="457200" y="4663440"/>
            <a:ext cx="182880" cy="1828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空调节能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温湿度独立控制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转轮除湿系统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空调变频控制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局部送风技术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 空压站节能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Oval 3"/>
          <p:cNvSpPr/>
          <p:nvPr/>
        </p:nvSpPr>
        <p:spPr>
          <a:xfrm>
            <a:off x="457200" y="1188720"/>
            <a:ext cx="182880" cy="1828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设备升级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永磁变频空压机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高效螺杆空压机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离心式空压机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无油润滑空压机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79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" name="Oval 10"/>
          <p:cNvSpPr/>
          <p:nvPr/>
        </p:nvSpPr>
        <p:spPr>
          <a:xfrm>
            <a:off x="457200" y="3474720"/>
            <a:ext cx="182880" cy="1828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83279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系统优化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7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空压机群联控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泄漏检测与修复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压降优化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余热回收利用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3776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8" name="Oval 17"/>
          <p:cNvSpPr/>
          <p:nvPr/>
        </p:nvSpPr>
        <p:spPr>
          <a:xfrm>
            <a:off x="457200" y="5029200"/>
            <a:ext cx="182880" cy="1828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智能控制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负荷预测控制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60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恒压供气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远程监控系统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能效统计分析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 铸造车间节能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Oval 3"/>
          <p:cNvSpPr/>
          <p:nvPr/>
        </p:nvSpPr>
        <p:spPr>
          <a:xfrm>
            <a:off x="457200" y="1188720"/>
            <a:ext cx="182880" cy="1828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熔炼设备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感应电炉取代冲天炉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保温熔炼炉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高效浇注系统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炉料预热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79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" name="Oval 10"/>
          <p:cNvSpPr/>
          <p:nvPr/>
        </p:nvSpPr>
        <p:spPr>
          <a:xfrm>
            <a:off x="457200" y="3474720"/>
            <a:ext cx="182880" cy="1828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83279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砂处理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7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旧砂冷却再生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混砂机变频改造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除尘系统优化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3776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7" name="Oval 16"/>
          <p:cNvSpPr/>
          <p:nvPr/>
        </p:nvSpPr>
        <p:spPr>
          <a:xfrm>
            <a:off x="457200" y="5029200"/>
            <a:ext cx="182880" cy="1828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工艺优化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94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精密铸造工艺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消失模铸造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低压铸造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离心铸造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 机加工节能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Oval 3"/>
          <p:cNvSpPr/>
          <p:nvPr/>
        </p:nvSpPr>
        <p:spPr>
          <a:xfrm>
            <a:off x="457200" y="1188720"/>
            <a:ext cx="182880" cy="1828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设备升级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高效数控机床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电主轴技术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直线电机驱动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高速加工中心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79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" name="Oval 10"/>
          <p:cNvSpPr/>
          <p:nvPr/>
        </p:nvSpPr>
        <p:spPr>
          <a:xfrm>
            <a:off x="457200" y="3474720"/>
            <a:ext cx="182880" cy="1828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83279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工艺优化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7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干式切削技术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微量润滑(MQL)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高效刀具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加工参数优化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3776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8" name="Oval 17"/>
          <p:cNvSpPr/>
          <p:nvPr/>
        </p:nvSpPr>
        <p:spPr>
          <a:xfrm>
            <a:off x="457200" y="5029200"/>
            <a:ext cx="182880" cy="1828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辅助系统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切削液净化回收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60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机床照明LED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排屑输送节能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6. 物流与仓储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Oval 3"/>
          <p:cNvSpPr/>
          <p:nvPr/>
        </p:nvSpPr>
        <p:spPr>
          <a:xfrm>
            <a:off x="457200" y="1188720"/>
            <a:ext cx="182880" cy="1828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搬运设备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电动叉车替换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AGV无人搬运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输送线变频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提升机能量回收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79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" name="Oval 10"/>
          <p:cNvSpPr/>
          <p:nvPr/>
        </p:nvSpPr>
        <p:spPr>
          <a:xfrm>
            <a:off x="457200" y="3474720"/>
            <a:ext cx="182880" cy="1828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83279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仓储系统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7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自动化立体仓库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智能分拣系统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仓储节能照明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温湿度监控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三、矿山节能方案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1. 提升系统节能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Oval 3"/>
          <p:cNvSpPr/>
          <p:nvPr/>
        </p:nvSpPr>
        <p:spPr>
          <a:xfrm>
            <a:off x="457200" y="1188720"/>
            <a:ext cx="182880" cy="1828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设备升级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直驱式提升机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变频调速驱动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永磁同步电机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" name="Oval 9"/>
          <p:cNvSpPr/>
          <p:nvPr/>
        </p:nvSpPr>
        <p:spPr>
          <a:xfrm>
            <a:off x="457200" y="3108960"/>
            <a:ext cx="182880" cy="1828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能量回收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势能回收发电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制动能量回馈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超级电容储能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6" name="Oval 15"/>
          <p:cNvSpPr/>
          <p:nvPr/>
        </p:nvSpPr>
        <p:spPr>
          <a:xfrm>
            <a:off x="457200" y="4663440"/>
            <a:ext cx="182880" cy="1828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智能控制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最优升降曲线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94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智能称重装载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无人值守控制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2. 空压站节能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Oval 3"/>
          <p:cNvSpPr/>
          <p:nvPr/>
        </p:nvSpPr>
        <p:spPr>
          <a:xfrm>
            <a:off x="457200" y="1188720"/>
            <a:ext cx="182880" cy="1828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设备升级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离心变频空压机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永磁变频螺杆机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高效油气分离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" name="Oval 9"/>
          <p:cNvSpPr/>
          <p:nvPr/>
        </p:nvSpPr>
        <p:spPr>
          <a:xfrm>
            <a:off x="457200" y="3108960"/>
            <a:ext cx="182880" cy="1828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系统优化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余热回收利用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泄漏智能检测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压风管网优化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集中远程控制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7" name="Oval 16"/>
          <p:cNvSpPr/>
          <p:nvPr/>
        </p:nvSpPr>
        <p:spPr>
          <a:xfrm>
            <a:off x="457200" y="4663440"/>
            <a:ext cx="182880" cy="1828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按需供气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分段压力控制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末端储气罐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用气需求预测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 通风系统节能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Oval 3"/>
          <p:cNvSpPr/>
          <p:nvPr/>
        </p:nvSpPr>
        <p:spPr>
          <a:xfrm>
            <a:off x="457200" y="1188720"/>
            <a:ext cx="182880" cy="1828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智能通风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按需供风控制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风量自动调节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风流组织优化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瓦斯智能排放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79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" name="Oval 10"/>
          <p:cNvSpPr/>
          <p:nvPr/>
        </p:nvSpPr>
        <p:spPr>
          <a:xfrm>
            <a:off x="457200" y="3474720"/>
            <a:ext cx="182880" cy="1828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83279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设备升级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7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高效对旋风机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变频调速驱动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消声隔音措施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3776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7" name="Oval 16"/>
          <p:cNvSpPr/>
          <p:nvPr/>
        </p:nvSpPr>
        <p:spPr>
          <a:xfrm>
            <a:off x="457200" y="5029200"/>
            <a:ext cx="182880" cy="1828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自然通风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94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竖井自然通风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巷道风流优化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通风阻力降低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 排水系统节能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Oval 3"/>
          <p:cNvSpPr/>
          <p:nvPr/>
        </p:nvSpPr>
        <p:spPr>
          <a:xfrm>
            <a:off x="457200" y="1188720"/>
            <a:ext cx="182880" cy="1828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设备升级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高效潜水泵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变频调速控制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永磁同步电机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" name="Oval 9"/>
          <p:cNvSpPr/>
          <p:nvPr/>
        </p:nvSpPr>
        <p:spPr>
          <a:xfrm>
            <a:off x="457200" y="3108960"/>
            <a:ext cx="182880" cy="1828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智能控制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水位智能监控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排水量预测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峰谷电价运行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无人值守控制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7" name="Oval 16"/>
          <p:cNvSpPr/>
          <p:nvPr/>
        </p:nvSpPr>
        <p:spPr>
          <a:xfrm>
            <a:off x="457200" y="4663440"/>
            <a:ext cx="182880" cy="1828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系统优化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管网泄漏检测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阀门优化调节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水仓有效利用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 采矿设备电动化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Oval 3"/>
          <p:cNvSpPr/>
          <p:nvPr/>
        </p:nvSpPr>
        <p:spPr>
          <a:xfrm>
            <a:off x="457200" y="1188720"/>
            <a:ext cx="182880" cy="1828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运输设备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电动宽体车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电机车直流改交流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胶带输送机变频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" name="Oval 9"/>
          <p:cNvSpPr/>
          <p:nvPr/>
        </p:nvSpPr>
        <p:spPr>
          <a:xfrm>
            <a:off x="457200" y="3108960"/>
            <a:ext cx="182880" cy="1828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采掘设备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电动挖掘机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液压站电驱动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凿岩台车电动化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6" name="Oval 15"/>
          <p:cNvSpPr/>
          <p:nvPr/>
        </p:nvSpPr>
        <p:spPr>
          <a:xfrm>
            <a:off x="457200" y="4663440"/>
            <a:ext cx="182880" cy="1828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辅助设备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电动无轨胶轮车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94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架空乘人装置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照明系统LED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6. 选矿节能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Oval 3"/>
          <p:cNvSpPr/>
          <p:nvPr/>
        </p:nvSpPr>
        <p:spPr>
          <a:xfrm>
            <a:off x="457200" y="1188720"/>
            <a:ext cx="182880" cy="1828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破碎筛分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高压辊磨机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高效圆锥破碎机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智能筛分控制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" name="Oval 9"/>
          <p:cNvSpPr/>
          <p:nvPr/>
        </p:nvSpPr>
        <p:spPr>
          <a:xfrm>
            <a:off x="457200" y="3108960"/>
            <a:ext cx="182880" cy="1828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磨矿分级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球磨机优化衬板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磨矿浓度优化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分级效率提升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6" name="Oval 15"/>
          <p:cNvSpPr/>
          <p:nvPr/>
        </p:nvSpPr>
        <p:spPr>
          <a:xfrm>
            <a:off x="457200" y="4663440"/>
            <a:ext cx="182880" cy="1828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浮选浓缩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浮选机高效叶轮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94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药剂用量优化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浓缩池高效刮泥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四、可再生能源利用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1. 光伏发电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Oval 3"/>
          <p:cNvSpPr/>
          <p:nvPr/>
        </p:nvSpPr>
        <p:spPr>
          <a:xfrm>
            <a:off x="457200" y="1188720"/>
            <a:ext cx="182880" cy="182880"/>
          </a:xfrm>
          <a:prstGeom prst="ellipse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00080"/>
                </a:solidFill>
              </a:defRPr>
            </a:pPr>
            <a:r>
              <a:t>分布式光伏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厂房屋顶光伏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停车场光伏车棚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空地集中式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幕墙一体化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79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" name="Oval 10"/>
          <p:cNvSpPr/>
          <p:nvPr/>
        </p:nvSpPr>
        <p:spPr>
          <a:xfrm>
            <a:off x="457200" y="3474720"/>
            <a:ext cx="182880" cy="182880"/>
          </a:xfrm>
          <a:prstGeom prst="ellipse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83279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00080"/>
                </a:solidFill>
              </a:defRPr>
            </a:pPr>
            <a:r>
              <a:t>储能配套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7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光伏储能系统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削峰填谷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应急备电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2. 储能系统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Oval 3"/>
          <p:cNvSpPr/>
          <p:nvPr/>
        </p:nvSpPr>
        <p:spPr>
          <a:xfrm>
            <a:off x="457200" y="1188720"/>
            <a:ext cx="182880" cy="182880"/>
          </a:xfrm>
          <a:prstGeom prst="ellipse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00080"/>
                </a:solidFill>
              </a:defRPr>
            </a:pPr>
            <a:r>
              <a:t>电力储能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电池储能系统(BESS)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飞轮储能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压缩空气储能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" name="Oval 9"/>
          <p:cNvSpPr/>
          <p:nvPr/>
        </p:nvSpPr>
        <p:spPr>
          <a:xfrm>
            <a:off x="457200" y="3108960"/>
            <a:ext cx="182880" cy="182880"/>
          </a:xfrm>
          <a:prstGeom prst="ellipse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00080"/>
                </a:solidFill>
              </a:defRPr>
            </a:pPr>
            <a:r>
              <a:t>应用场景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需量管理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峰谷套利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新能源消纳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电网调频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 绿色电力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Oval 3"/>
          <p:cNvSpPr/>
          <p:nvPr/>
        </p:nvSpPr>
        <p:spPr>
          <a:xfrm>
            <a:off x="457200" y="1188720"/>
            <a:ext cx="182880" cy="182880"/>
          </a:xfrm>
          <a:prstGeom prst="ellipse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00080"/>
                </a:solidFill>
              </a:defRPr>
            </a:pPr>
            <a:r>
              <a:t>绿电采购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风电采购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光伏采购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绿电证书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" name="Oval 9"/>
          <p:cNvSpPr/>
          <p:nvPr/>
        </p:nvSpPr>
        <p:spPr>
          <a:xfrm>
            <a:off x="457200" y="3108960"/>
            <a:ext cx="182880" cy="182880"/>
          </a:xfrm>
          <a:prstGeom prst="ellipse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00080"/>
                </a:solidFill>
              </a:defRPr>
            </a:pPr>
            <a:r>
              <a:t>碳减排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碳排放核算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碳交易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碳中和规划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节能投资与效益估算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4712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3017520"/>
                <a:gridCol w="3200400"/>
              </a:tblGrid>
              <a:tr h="5715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节能措施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投资估算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年节能效益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回收期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71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能源管理系统(EMS)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50-100万元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10-20万元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3-5年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71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变频改造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30-80万元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15-30万元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1.5-3年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余热回收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100-300万元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30-80万元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3-5年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71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LED照明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20-50万元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10-20万元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1.5-2年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空压站节能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50-150万元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20-50万元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2-3年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71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光伏发电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200-500万元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40-100万元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4-6年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储能系统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300-800万元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30-60万元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8-12年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节能实施路径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Oval 3"/>
          <p:cNvSpPr/>
          <p:nvPr/>
        </p:nvSpPr>
        <p:spPr>
          <a:xfrm>
            <a:off x="457200" y="1188720"/>
            <a:ext cx="182880" cy="1828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22"/>
                </a:solidFill>
              </a:defRPr>
            </a:pPr>
            <a:r>
              <a:t>第一阶段(1-6月)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能源审计与诊断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建立能效基准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Quick-win项目实施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EMS系统部署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79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" name="Oval 10"/>
          <p:cNvSpPr/>
          <p:nvPr/>
        </p:nvSpPr>
        <p:spPr>
          <a:xfrm>
            <a:off x="457200" y="3474720"/>
            <a:ext cx="182880" cy="1828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83279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22"/>
                </a:solidFill>
              </a:defRPr>
            </a:pPr>
            <a:r>
              <a:t>第二阶段(6-18月)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7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设备升级改造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工艺优化调整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系统智能控制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人员培训推广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3776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8" name="Oval 17"/>
          <p:cNvSpPr/>
          <p:nvPr/>
        </p:nvSpPr>
        <p:spPr>
          <a:xfrm>
            <a:off x="457200" y="5029200"/>
            <a:ext cx="182880" cy="1828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22"/>
                </a:solidFill>
              </a:defRPr>
            </a:pPr>
            <a:r>
              <a:t>第三阶段(18-36月)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可再生能源配套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60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碳管理体系建设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持续改进优化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✓ 行业标杆打造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