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00B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3657600"/>
            <a:ext cx="2743200" cy="2743200"/>
          </a:xfrm>
          <a:prstGeom prst="ellipse">
            <a:avLst/>
          </a:prstGeom>
          <a:solidFill>
            <a:srgbClr val="00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286000" cy="457200"/>
          </a:xfrm>
          <a:prstGeom prst="roundRect">
            <a:avLst/>
          </a:prstGeom>
          <a:solidFill>
            <a:srgbClr val="00B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ZERO-CARBON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零碳园区解决方案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8E6FF"/>
                </a:solidFill>
              </a:defRPr>
            </a:pPr>
            <a:r>
              <a:t>Zero-Carbon Park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97680"/>
            <a:ext cx="2743200" cy="2743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4D2E6"/>
                </a:solidFill>
              </a:defRPr>
            </a:pPr>
            <a:r>
              <a:t>中东部地区中型化工园区深度零碳解决方案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6BEDC"/>
                </a:solidFill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48640"/>
            <a:ext cx="1645920" cy="36576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1E1E"/>
                </a:solidFill>
              </a:defRPr>
            </a:pPr>
            <a:r>
              <a:t>方案目录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74519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方案总体框架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Planning Framework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834640"/>
            <a:ext cx="640080" cy="640080"/>
          </a:xfrm>
          <a:prstGeom prst="ellipse">
            <a:avLst/>
          </a:prstGeom>
          <a:solidFill>
            <a:srgbClr val="00B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803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核心零碳目标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461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Zero-Carbon Targets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840480"/>
            <a:ext cx="640080" cy="640080"/>
          </a:xfrm>
          <a:prstGeom prst="ellipse">
            <a:avLst/>
          </a:prstGeom>
          <a:solidFill>
            <a:srgbClr val="64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8862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技术方案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519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Technical Solutions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846320"/>
            <a:ext cx="640080" cy="640080"/>
          </a:xfrm>
          <a:prstGeom prst="ellipse">
            <a:avLst/>
          </a:prstGeom>
          <a:solidFill>
            <a:srgbClr val="C8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8920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投资估算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257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Investment Estimation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852160"/>
            <a:ext cx="640080" cy="640080"/>
          </a:xfrm>
          <a:prstGeom prst="ellipse">
            <a:avLst/>
          </a:prstGeom>
          <a:solidFill>
            <a:srgbClr val="96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8978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实施路线图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62636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Implementation Roadmap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914400"/>
            <a:ext cx="4114800" cy="5029200"/>
          </a:xfrm>
          <a:prstGeom prst="round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6800" y="1828800"/>
            <a:ext cx="2286000" cy="2286000"/>
          </a:xfrm>
          <a:prstGeom prst="ellipse">
            <a:avLst/>
          </a:prstGeom>
          <a:solidFill>
            <a:srgbClr val="00B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1371600"/>
            <a:ext cx="4572000" cy="4572000"/>
          </a:xfrm>
          <a:prstGeom prst="ellipse">
            <a:avLst/>
          </a:prstGeom>
          <a:solidFill>
            <a:srgbClr val="00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4114800"/>
            <a:ext cx="1828800" cy="1828800"/>
          </a:xfrm>
          <a:prstGeom prst="ellipse">
            <a:avLst/>
          </a:prstGeom>
          <a:solidFill>
            <a:srgbClr val="00C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C896"/>
                </a:solidFill>
              </a:defRPr>
            </a:pPr>
            <a: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方案总体框架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DCFF"/>
                </a:solidFill>
              </a:defRPr>
            </a:pPr>
            <a:r>
              <a:t>Planning Framework &amp; Zero-Carbon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6C8E6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2011680" cy="32004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PARK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1E1E"/>
                </a:solidFill>
              </a:defRPr>
            </a:pPr>
            <a:r>
              <a:t>园区规模与产业构成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园区基本情况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占地面积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约 500 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建筑面积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17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约 20 万㎡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产业类型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566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精细化工为主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年产值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114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约 15 亿元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员工数量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663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约 2000 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737360"/>
            <a:ext cx="2743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0" y="1737360"/>
            <a:ext cx="274320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19659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占地面积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33172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66CC"/>
                </a:solidFill>
              </a:defRPr>
            </a:pPr>
            <a:r>
              <a:t>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1089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0" y="1737360"/>
            <a:ext cx="2743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41280" y="1737360"/>
            <a:ext cx="2743200" cy="73152"/>
          </a:xfrm>
          <a:prstGeom prst="rect">
            <a:avLst/>
          </a:prstGeom>
          <a:solidFill>
            <a:srgbClr val="00B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59" y="19659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年产值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59" y="233172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B488"/>
                </a:solidFill>
              </a:defRPr>
            </a:pPr>
            <a: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9" y="31089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亿元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3931920"/>
            <a:ext cx="2743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0" y="3931920"/>
            <a:ext cx="2743200" cy="73152"/>
          </a:xfrm>
          <a:prstGeom prst="rect">
            <a:avLst/>
          </a:prstGeom>
          <a:solidFill>
            <a:srgbClr val="64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41605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员工数量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52628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6496C8"/>
                </a:solidFill>
              </a:defRPr>
            </a:pPr>
            <a:r>
              <a:t>2000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3035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3931920"/>
            <a:ext cx="2743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41280" y="3931920"/>
            <a:ext cx="2743200" cy="73152"/>
          </a:xfrm>
          <a:prstGeom prst="rect">
            <a:avLst/>
          </a:prstGeom>
          <a:solidFill>
            <a:srgbClr val="C8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59" y="41605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年碳排放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59" y="452628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C89664"/>
                </a:solidFill>
              </a:defRPr>
            </a:pPr>
            <a:r>
              <a:t>8.5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59" y="53035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万吨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00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006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-1828800"/>
            <a:ext cx="2743200" cy="2743200"/>
          </a:xfrm>
          <a:prstGeom prst="ellipse">
            <a:avLst/>
          </a:prstGeom>
          <a:solidFill>
            <a:srgbClr val="00B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共创零碳未来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E6DC"/>
                </a:solidFill>
              </a:defRPr>
            </a:pPr>
            <a:r>
              <a:t>携手共建绿色化工新时代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754880"/>
            <a:ext cx="2133295" cy="2743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6C8B4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