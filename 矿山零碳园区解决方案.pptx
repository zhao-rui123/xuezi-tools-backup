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矿山零碳园区解决方案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Green Mining Park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8C00"/>
                </a:solidFill>
              </a:defRPr>
            </a:pPr>
            <a:r>
              <a:t>📋 矿山行业零碳园区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项目概述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项目建设背景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行业背景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3502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矿业是我国国民经济的基础性产业，能源消耗大，碳排放强度高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矿山作业涉及采矿、选矿、提升、运输、排水、通风等高能耗工序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024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矿山企业面临碳排放约束和绿色转型的双重压力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9514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数据特征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1576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6090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公用介质用能占比：电力91%、柴油7%、天然气2%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0837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535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主要工艺用能：采矿41%、选矿38%、提升运输21%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00983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1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主要设备用能：提升机30%、空压机25%、水泵18%、通风机15%、电机12%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7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政策要求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096511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416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双碳目标：2030年碳达峰、2060年碳中和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38912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3425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能耗双控：严格控制能耗强度和总量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68172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绿色矿山：2025年基本实现全部省级绿色矿山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项目建设目标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近期目标(2023-2025)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3502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能效提升25%，单位产品能耗下降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碳排放强度下降18%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024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建成省级绿色矿山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9514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中期目标(2026-2030)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1576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6090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绿电占比达到40%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0837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535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碳排放强度下降45%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00983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1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建成国家级绿色矿山示范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7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远期目标(2031-2035)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096511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416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实现碳中和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38912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3425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100%使用绿色电力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68172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建成零碳智慧矿山标杆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用能特征分析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主要工艺用能占比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143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工艺环节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能耗占比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主要耗能设备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节能重点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采矿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凿岩机、铲运机、矿车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设备电动化、智能化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选矿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破碎机、球磨机、浮选机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高效设备、余热回收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提升运输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提升机、胶带机、电机车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能量回收、变频调速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主要设备用能占比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6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主要设备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用能占比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设备数量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节能改造方向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提升机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主井/副井提升机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变频调速+能量回收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空压机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空压机站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变频+余热利用+群控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水泵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井下排水泵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变频调速+峰谷运行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通风机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主扇/局扇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智能通风+变频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其他电机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各类辅助电机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变频改造+能效提升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公用介质用能占比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143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介质类型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用能占比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主要用途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替代方向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电力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提升、排水、通风、照明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绿电替代+节能降耗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柴油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运输车辆、工程机械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电动化替代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天然气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锅炉取暖、员工设施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热泵替代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用能结构优化趋势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65960" y="333756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</a:defRPr>
            </a:pPr>
            <a:r>
              <a:t>现状</a:t>
            </a:r>
            <a:br/>
            <a:r>
              <a:t>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电力91%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柴油7%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天然气2%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碳强度1.2</a:t>
            </a:r>
          </a:p>
        </p:txBody>
      </p:sp>
      <p:sp>
        <p:nvSpPr>
          <p:cNvPr id="11" name="Oval 10"/>
          <p:cNvSpPr/>
          <p:nvPr/>
        </p:nvSpPr>
        <p:spPr>
          <a:xfrm>
            <a:off x="4709159" y="3337560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</a:defRPr>
            </a:pPr>
            <a:r>
              <a:t>近期</a:t>
            </a:r>
            <a:br/>
            <a: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电力85%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柴油5%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天然气1%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绿电15%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333756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8B22"/>
                </a:solidFill>
              </a:defRPr>
            </a:pPr>
            <a:r>
              <a:t>中期</a:t>
            </a:r>
            <a:br/>
            <a:r>
              <a:t>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电力75%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柴油3%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天然气0%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绿电40%</a:t>
            </a:r>
          </a:p>
        </p:txBody>
      </p:sp>
      <p:sp>
        <p:nvSpPr>
          <p:cNvPr id="23" name="Oval 22"/>
          <p:cNvSpPr/>
          <p:nvPr/>
        </p:nvSpPr>
        <p:spPr>
          <a:xfrm>
            <a:off x="10195560" y="333756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188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</a:defRPr>
            </a:pPr>
            <a:r>
              <a:t>远期</a:t>
            </a:r>
            <a:br/>
            <a:r>
              <a:t>2035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电力60%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柴油1%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天然气0%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绿电100%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技术方案设计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技术方案设计 - 能源替代与设备节能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00"/>
                </a:solidFill>
              </a:defRPr>
            </a:pPr>
            <a:r>
              <a:t>◆ 能源替代方案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2646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分布式光伏：办公区/生活区屋顶建设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79222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储能系统：配置储能平抑波动、削峰填谷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15798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电动化替代：电动宽体车替代柴油车辆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52374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绿电采购：购买风电/光伏绿证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◆ 设备节能方案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42646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提升机：变频调速+势能回收发电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9222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空压站：变频+余热利用+按需供气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5798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通风系统：智能调控+变频调速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52374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排水系统：变频调速+峰谷电价运行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技术方案设计 - 智能化管理与能源结构优化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00"/>
                </a:solidFill>
              </a:defRPr>
            </a:pPr>
            <a:r>
              <a:t>◆ 智能化管理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2646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矿山智慧能源平台建设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79222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设备状态在线监测诊断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15798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能耗实时监测与分析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52374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碳排放统计与核算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◆ 能源结构优化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42646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电力占比：91%→60%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9222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光伏装机：新增X MWp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5798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储能配置：X MWh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52374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绿电采购：年购绿证X万份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重点节能技术方案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提升系统节能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3502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采用变频调速技术，根据负载自动调节提升速度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配置能量回收系统，将势能转化为电能回馈电网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024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采用永磁同步电机，提高电机效率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1284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5798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智能优化升降曲线，减少无效能耗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空压站节能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0837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535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采用永磁变频空压机，替代传统工频空压机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00983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1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配置余热回收装置，利用压缩热制备热水/供暖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593591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3872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实施空压机群联控，按需供气，减少卸载能耗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886199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3133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智能泄漏检测，及时发现并修复压缩空气泄漏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61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通风系统节能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68172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实施智能通风控制，根据瓦斯浓度和作业区域按需供风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974336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采用高效对旋风机，替代老旧风机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26694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变频调速控制，风量实时调节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55955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优化巷道通风网络，降低通风阻力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碳排放特征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碳排放结构分析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91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排放源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碳排放占比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主要来源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减排技术路径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电力消耗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提升/排水/通风/照明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绿电替代+设备节能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柴油消耗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运输车辆/工程机械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电动化替代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天然气燃烧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锅炉/取暖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热泵替代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其他排放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炸药/耗材等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工艺优化改进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碳排放强度与减排潜力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碳排放强度现状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3502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当前碳排放强度：约 1.2 tCO2/万吨矿产品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年碳排放总量：约 X 万吨CO2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024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万元产值碳排放：约 0.9 tCO2/万元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9514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减排潜力分析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1576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6090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设备节能降耗：可减排 30%（变频改造+能量回收）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0837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535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绿电替代：可减排 25%（光伏+储能+绿证采购）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00983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1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电动化替代：可减排 20%（电动车辆替代柴油）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593591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3872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智能化管理：可减排 10%（按需供能+精细管理）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6849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减排目标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38912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3425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2025年：碳排放强度下降18%，降至约0.98 tCO2/吨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68172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2030年：碳排放强度下降45%，降至约0.66 tCO2/吨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974336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2035年：实现碳中和，碳排放强度趋近于零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碳核算与碳管理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碳核算体系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3502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建立矿山碳排放核算方法学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涵盖范围一（直接排放）、范围二（电力间接排放）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024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建立碳排放因子数据库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1284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5798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实现碳排放数据实时监测与统计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碳管理体系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0837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535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建立企业碳排放管理制度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00983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1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配置专职碳排放管理人员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593591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3872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制定年度碳排放预算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886199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3133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开展碳排放绩效评价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61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碳交易准备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68172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研究碳市场交易规则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974336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评估碳资产开发潜力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26694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建立碳资产管理台账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55955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探索CCER项目开发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零碳路径规划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零碳路径规划 - 三阶段实施路线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23160" y="333756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</a:defRPr>
            </a:pPr>
            <a:r>
              <a:t>近期</a:t>
            </a:r>
            <a:br/>
            <a:r>
              <a:t>2023-2025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能效提升25%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设备变频改造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EMS系统上线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省级绿色矿山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碳强度-18%</a:t>
            </a:r>
          </a:p>
        </p:txBody>
      </p:sp>
      <p:sp>
        <p:nvSpPr>
          <p:cNvPr id="12" name="Oval 11"/>
          <p:cNvSpPr/>
          <p:nvPr/>
        </p:nvSpPr>
        <p:spPr>
          <a:xfrm>
            <a:off x="6080759" y="3337560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</a:defRPr>
            </a:pPr>
            <a:r>
              <a:t>中期</a:t>
            </a:r>
            <a:br/>
            <a:r>
              <a:t>2026-2030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绿电占比40%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光伏+储能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电动宽体车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9260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智能矿山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2918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碳强度-45%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333756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8B22"/>
                </a:solidFill>
              </a:defRPr>
            </a:pPr>
            <a:r>
              <a:t>远期</a:t>
            </a:r>
            <a:br/>
            <a:r>
              <a:t>2031-2035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碳中和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100%绿电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全面电动化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9260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零碳智慧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2918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碳汇抵消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阶段性重点任务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近期重点(2023-2025)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3502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完成能效诊断，制定节能改造方案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实施提升机、排水泵、通风机变频改造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024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建设能源管理系统(EMS)平台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1284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5798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建成省级绿色矿山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中期重点(2026-2030)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0837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535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建设分布式光伏+储能系统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00983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1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推进运输车辆电动化替代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593591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38727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建设智慧能源管控平台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886199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31335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绿电采购比例达到40%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611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远期重点(2031-2035)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68172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实现100%绿电消费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974336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全面电动化替代柴油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26694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建设零碳智慧矿山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55955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通过碳汇实现碳中和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投资估算与资金来源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531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建设内容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投资估算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资金来源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实施周期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设备变频改造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X万元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企业自筹+节能贷款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1-2年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能源管理系统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企业自筹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分布式光伏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X万元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企业自筹+绿金贷款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2-3年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储能系统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企业自筹+政策补贴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1-2年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电动化替代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X万元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企业自筹+设备租赁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3-5年</a:t>
                      </a:r>
                    </a:p>
                  </a:txBody>
                  <a:tcPr>
                    <a:solidFill>
                      <a:srgbClr val="FFF5EB"/>
                    </a:solidFill>
                  </a:tcPr>
                </a:tc>
              </a:tr>
              <a:tr h="6531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智慧平台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企业自筹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效益分析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效益分析 - 经济/社会/环境效益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💰 经济效益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27432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0078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年节能收益约X万元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5798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谷电利用降低成本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1518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设备维护成本降低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碳交易潜在收益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52958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政策补贴收入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🏭 社会效益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463040"/>
            <a:ext cx="274320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7680" y="170078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改善井下作业环境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0" y="215798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提升安全生产水平</a:t>
            </a:r>
          </a:p>
        </p:txBody>
      </p:sp>
      <p:sp>
        <p:nvSpPr>
          <p:cNvPr id="22" name="Oval 21"/>
          <p:cNvSpPr/>
          <p:nvPr/>
        </p:nvSpPr>
        <p:spPr>
          <a:xfrm>
            <a:off x="4297680" y="261518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提供绿色就业岗位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0" y="307238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行业示范引领作用</a:t>
            </a:r>
          </a:p>
        </p:txBody>
      </p:sp>
      <p:sp>
        <p:nvSpPr>
          <p:cNvPr id="26" name="Oval 25"/>
          <p:cNvSpPr/>
          <p:nvPr/>
        </p:nvSpPr>
        <p:spPr>
          <a:xfrm>
            <a:off x="4297680" y="3529584"/>
            <a:ext cx="73152" cy="731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474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助力地方经济发展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8B22"/>
                </a:solidFill>
              </a:defRPr>
            </a:pPr>
            <a:r>
              <a:t>🌱 环境效益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463040"/>
            <a:ext cx="2743200" cy="2743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170078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年减碳X万吨CO2</a:t>
            </a:r>
          </a:p>
        </p:txBody>
      </p:sp>
      <p:sp>
        <p:nvSpPr>
          <p:cNvPr id="32" name="Oval 31"/>
          <p:cNvSpPr/>
          <p:nvPr/>
        </p:nvSpPr>
        <p:spPr>
          <a:xfrm>
            <a:off x="7955279" y="215798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粉尘排放大幅减少</a:t>
            </a:r>
          </a:p>
        </p:txBody>
      </p:sp>
      <p:sp>
        <p:nvSpPr>
          <p:cNvPr id="34" name="Oval 33"/>
          <p:cNvSpPr/>
          <p:nvPr/>
        </p:nvSpPr>
        <p:spPr>
          <a:xfrm>
            <a:off x="7955279" y="261518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噪音污染有效降低</a:t>
            </a:r>
          </a:p>
        </p:txBody>
      </p:sp>
      <p:sp>
        <p:nvSpPr>
          <p:cNvPr id="36" name="Oval 35"/>
          <p:cNvSpPr/>
          <p:nvPr/>
        </p:nvSpPr>
        <p:spPr>
          <a:xfrm>
            <a:off x="7955279" y="307238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生态恢复治理</a:t>
            </a:r>
          </a:p>
        </p:txBody>
      </p:sp>
      <p:sp>
        <p:nvSpPr>
          <p:cNvPr id="38" name="Oval 37"/>
          <p:cNvSpPr/>
          <p:nvPr/>
        </p:nvSpPr>
        <p:spPr>
          <a:xfrm>
            <a:off x="7955279" y="3529584"/>
            <a:ext cx="73152" cy="73152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3474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助力双碳目标实现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"/>
            <a:ext cx="12191695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综合效益测算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节能效益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35024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年节约标煤：X吨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27632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年节电：X万kWh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024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年节省运行成本：X万元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9514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减排效益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1576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60903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年减少CO2排放：X万吨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08375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53511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年减少柴油消耗：X吨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00983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1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年减少粉尘排放：X吨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7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◆ 经济评价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096511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416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项目总投资：X万元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389120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3425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年运行收益：X万元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681728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2686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投资回收期：X年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974336"/>
            <a:ext cx="73152" cy="731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内部收益率：X%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