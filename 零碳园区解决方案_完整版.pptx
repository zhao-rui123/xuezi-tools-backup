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零碳园区解决方案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汽车制造行业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8D4"/>
                </a:solidFill>
              </a:defRPr>
            </a:pPr>
            <a:r>
              <a:t>📋 汽车制造零碳园区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项目概述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项目概述 - 零碳园区建设背景与目标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18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【建设背景】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90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汽车制造业是我国国民经济支柱产业，能耗占工业总能耗的15%以上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762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汽车制造工艺复杂，包含铸造、热处理、涂装、机加工等高能耗工序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334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碳排放主要来自能源消耗，其中电力占80%、天然气15%、蒸汽5%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906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</a:p>
        </p:txBody>
      </p:sp>
      <p:sp>
        <p:nvSpPr>
          <p:cNvPr id="14" name="Oval 13"/>
          <p:cNvSpPr/>
          <p:nvPr/>
        </p:nvSpPr>
        <p:spPr>
          <a:xfrm>
            <a:off x="6400800" y="12618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【建设目标】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190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近期目标(2025)：能效提升20%，碳排放强度下降15%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762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中期目标(2030)：绿电占比达到50%，碳排放强度下降40%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6334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远期目标(2035)：实现碳中和，建成零碳智慧园区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用能特征分析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用能特征分析 - 行业工艺特点与主要用能设备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◆ 行业工艺特点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1907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铸造：金属熔炼、高温熔化，能耗占比18%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3055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热处理：精确控温、长时间保温，能耗占比39%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涂装：涂料烘干、废气处理，能耗占比30%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5351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机加工：数控机床、精密加工，能耗占比13%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3649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物流：自动输送、仓储管理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◆ 主要用能设备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1907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工业炉窑：热处理炉、熔炼炉、烘干炉，占比49%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3055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空压机站：气源供应、喷涂驱动，占比23%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54203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各类电机：主轴、泵、风机，占比15%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95351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空调系统：车间温湿度控制，占比13%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3649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其他：照明、办公、动力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用能结构分析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23160" y="306324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电力主导</a:t>
            </a:r>
            <a:br/>
            <a: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工业生产主体能源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覆盖全部生产工序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峰谷电价管理</a:t>
            </a:r>
          </a:p>
        </p:txBody>
      </p:sp>
      <p:sp>
        <p:nvSpPr>
          <p:cNvPr id="10" name="Oval 9"/>
          <p:cNvSpPr/>
          <p:nvPr/>
        </p:nvSpPr>
        <p:spPr>
          <a:xfrm>
            <a:off x="6080759" y="3063240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工艺用热</a:t>
            </a:r>
            <a:br/>
            <a:r>
              <a:t>15%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天然气锅炉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热处理/熔炼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涂装烘干</a:t>
            </a:r>
          </a:p>
        </p:txBody>
      </p:sp>
      <p:sp>
        <p:nvSpPr>
          <p:cNvPr id="15" name="Oval 14"/>
          <p:cNvSpPr/>
          <p:nvPr/>
        </p:nvSpPr>
        <p:spPr>
          <a:xfrm>
            <a:off x="9738360" y="306324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8B22"/>
                </a:solidFill>
              </a:defRPr>
            </a:pPr>
            <a:r>
              <a:t>辅助蒸汽</a:t>
            </a:r>
            <a:br/>
            <a:r>
              <a:t>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清洗脱脂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工艺加热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冬季供暖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技术方案设计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技术方案设计 - 能源替代与设备节能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◆ 能源替代方案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1907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光伏发电：厂房屋顶建设分布式光伏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3055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储能系统：配置储能平抑波动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绿电采购：购买风电/光伏绿证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5351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天然气优化：高效燃烧技术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◆ 设备节能方案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71907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变频改造：电机、水泵、风机变频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13055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工业炉窑：蓄热燃烧、、余热回收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54203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空压站：群控系统、余热利用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95351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智能照明：LED+感应控制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技术方案设计 - 智能化管理与能源结构优化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78D4"/>
                </a:solidFill>
              </a:defRPr>
            </a:pPr>
            <a:r>
              <a:t>◆ 智能化管理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1907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能源管理系统(EMS)全覆盖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3055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设备状态在线监测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AI节能优化算法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5351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碳排放实时核算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◆ 能源结构优化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71907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电力：91%→65%（含绿电）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13055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光伏：新增装机X MWp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54203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储能：配置X MWh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95351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绿证：年购绿电X MWh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碳排放特征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碳排放结构分析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  <a:gridCol w="3383280"/>
              </a:tblGrid>
              <a:tr h="91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排放源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主要来源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减排措施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电力消耗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外购电力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绿电替代+节能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天然气燃烧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工业炉窑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高效燃烧+余热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蒸汽消耗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锅炉制备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余热利用+制度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柴油等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电动化替代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碳排放强度与减排潜力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18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【碳排放强度】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90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当前：约 0.8 tCO2/万元产值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762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目标：2030年降至 0.5 tCO2/万元产值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334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Oval 11"/>
          <p:cNvSpPr/>
          <p:nvPr/>
        </p:nvSpPr>
        <p:spPr>
          <a:xfrm>
            <a:off x="457200" y="30906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【减排潜力分析】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2618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节能降耗：可减排 35%（工艺优化、设备升级）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190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绿电替代：可减排 30%（光伏+储能+绿证）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762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智能化管理：可减排 10%（精细化管理）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6334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剩余排放：通过碳汇/碳交易中和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零碳路径规划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零碳路径规划 - 近期/中期/远期目标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23160" y="306324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近期</a:t>
            </a:r>
            <a:br/>
            <a:r>
              <a:t>2023-2025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能效提升20%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LED照明全覆盖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变频改造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EMS系统上线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碳强度-15%</a:t>
            </a:r>
          </a:p>
        </p:txBody>
      </p:sp>
      <p:sp>
        <p:nvSpPr>
          <p:cNvPr id="12" name="Oval 11"/>
          <p:cNvSpPr/>
          <p:nvPr/>
        </p:nvSpPr>
        <p:spPr>
          <a:xfrm>
            <a:off x="6080759" y="3063240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中期</a:t>
            </a:r>
            <a:br/>
            <a:r>
              <a:t>2026-2030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绿电占比50%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光伏+储能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余热回收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智慧能源平台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碳强度-40%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306324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8B22"/>
                </a:solidFill>
              </a:defRPr>
            </a:pPr>
            <a:r>
              <a:t>远期</a:t>
            </a:r>
            <a:br/>
            <a:r>
              <a:t>2031-2035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碳中和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100%绿电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深度脱碳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碳汇抵消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零碳园区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8D4"/>
                </a:solidFill>
              </a:defRPr>
            </a:pPr>
            <a:r>
              <a:t>效益分析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效益分析 - 经济/社会/环境效益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</a:defRPr>
            </a:pPr>
            <a:r>
              <a:t>💰 经济效益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27432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9933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年节能收益约X万元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505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峰谷电价套利收益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077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设备维护成本降低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649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碳交易潜在收益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🏭 社会效益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737360"/>
            <a:ext cx="274320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19933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带动就业X人</a:t>
            </a:r>
          </a:p>
        </p:txBody>
      </p:sp>
      <p:sp>
        <p:nvSpPr>
          <p:cNvPr id="18" name="Oval 17"/>
          <p:cNvSpPr/>
          <p:nvPr/>
        </p:nvSpPr>
        <p:spPr>
          <a:xfrm>
            <a:off x="4297680" y="24505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提升企业形象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0" y="29077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行业示范引领</a:t>
            </a:r>
          </a:p>
        </p:txBody>
      </p:sp>
      <p:sp>
        <p:nvSpPr>
          <p:cNvPr id="22" name="Oval 21"/>
          <p:cNvSpPr/>
          <p:nvPr/>
        </p:nvSpPr>
        <p:spPr>
          <a:xfrm>
            <a:off x="4297680" y="33649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助力双碳目标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🌱 环境效益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737360"/>
            <a:ext cx="2743200" cy="2743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79" y="19933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年减碳X万吨</a:t>
            </a:r>
          </a:p>
        </p:txBody>
      </p:sp>
      <p:sp>
        <p:nvSpPr>
          <p:cNvPr id="28" name="Oval 27"/>
          <p:cNvSpPr/>
          <p:nvPr/>
        </p:nvSpPr>
        <p:spPr>
          <a:xfrm>
            <a:off x="7955279" y="24505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粉尘减排X吨</a:t>
            </a:r>
          </a:p>
        </p:txBody>
      </p:sp>
      <p:sp>
        <p:nvSpPr>
          <p:cNvPr id="30" name="Oval 29"/>
          <p:cNvSpPr/>
          <p:nvPr/>
        </p:nvSpPr>
        <p:spPr>
          <a:xfrm>
            <a:off x="7955279" y="29077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NOx减排X吨</a:t>
            </a:r>
          </a:p>
        </p:txBody>
      </p:sp>
      <p:sp>
        <p:nvSpPr>
          <p:cNvPr id="32" name="Oval 31"/>
          <p:cNvSpPr/>
          <p:nvPr/>
        </p:nvSpPr>
        <p:spPr>
          <a:xfrm>
            <a:off x="7955279" y="33649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助力生态文明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零碳园区解决方案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矿山行业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8D4"/>
                </a:solidFill>
              </a:defRPr>
            </a:pPr>
            <a:r>
              <a:t>📋 矿山零碳园区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CONTENTS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项目概述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项目概述 - 零碳园区建设背景与目标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18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【建设背景】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90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矿业是国民经济基础性产业，能源消耗大，碳排放强度高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762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矿山作业涉及采矿、选矿、输送、排水、通风等环节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334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碳排放主要来自电力消耗（提升、排水、通风占70%以上）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0906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</a:p>
        </p:txBody>
      </p:sp>
      <p:sp>
        <p:nvSpPr>
          <p:cNvPr id="14" name="Oval 13"/>
          <p:cNvSpPr/>
          <p:nvPr/>
        </p:nvSpPr>
        <p:spPr>
          <a:xfrm>
            <a:off x="6400800" y="12618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【建设目标】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190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近期目标(2025)：能效提升25%，碳排放强度下降18%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762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中期目标(2030)：绿电占比达到40%，碳排放强度下降45%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6334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远期目标(2035)：实现碳中和，建成绿色智慧矿山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用能特征分析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用能特征分析 - 行业工艺特点与主要用能设备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◆ 行业工艺特点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1907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采矿：凿岩爆破、装载运输，能耗占比41%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3055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选矿：破碎筛分、浮选压滤，能耗占比38%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提升运输：井筒提升、胶带输送，能耗占比21%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5351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排水：井下排水、防尘洒水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3649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通风：矿井通风、瓦斯排放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◆ 主要用能设备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1907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提升机：主井/副井提升，占比30%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3055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空压机：凿岩供气、喷锚，占比25%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54203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水泵：井下排水，占比18%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0" y="295351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通风机：矿井通风，占比15%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33649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291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电机：传送、破碎等，占比12%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用能结构分析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23160" y="306324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电力主导</a:t>
            </a:r>
            <a:br/>
            <a:r>
              <a:t>91%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提升机耗电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排水泵耗电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通风机耗电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照明监控</a:t>
            </a:r>
          </a:p>
        </p:txBody>
      </p:sp>
      <p:sp>
        <p:nvSpPr>
          <p:cNvPr id="11" name="Oval 10"/>
          <p:cNvSpPr/>
          <p:nvPr/>
        </p:nvSpPr>
        <p:spPr>
          <a:xfrm>
            <a:off x="6080759" y="3063240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柴油辅助</a:t>
            </a:r>
            <a:br/>
            <a:r>
              <a:t>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运输车辆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工程设备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备用电源</a:t>
            </a:r>
          </a:p>
        </p:txBody>
      </p:sp>
      <p:sp>
        <p:nvSpPr>
          <p:cNvPr id="16" name="Oval 15"/>
          <p:cNvSpPr/>
          <p:nvPr/>
        </p:nvSpPr>
        <p:spPr>
          <a:xfrm>
            <a:off x="9738360" y="306324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8B22"/>
                </a:solidFill>
              </a:defRPr>
            </a:pPr>
            <a:r>
              <a:t>天然气</a:t>
            </a:r>
            <a:br/>
            <a:r>
              <a:t>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锅炉取暖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员工设施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技术方案设计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技术方案设计 - 能源替代与设备节能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◆ 能源替代方案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1907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光伏发电：办公区/生活区屋顶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3055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储能系统：削峰填谷应急备用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电动设备：电动宽体车替代柴油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5351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绿电采购：购买绿证实现低碳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◆ 设备节能方案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71907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提升机：变频调速+能量回收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13055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空压站：变频+余热利用+按需供气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54203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通风系统：智能调控+变频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95351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排水系统：变频调速+峰谷运行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技术方案设计 - 智能化管理与能源结构优化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8C00"/>
                </a:solidFill>
              </a:defRPr>
            </a:pPr>
            <a:r>
              <a:t>◆ 智能化管理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71907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矿山智慧能源平台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3055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设备远程监控诊断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54203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能耗实时监测分析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95351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碳排放统计核算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28B22"/>
                </a:solidFill>
              </a:defRPr>
            </a:pPr>
            <a:r>
              <a:t>◆ 能源结构优化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71907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电力：91%→55%（含绿电）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13055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光伏：新增装机X MWp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54203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68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储能：配置X MWh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95351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电动化：柴油减少80%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碳排放特征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碳排放结构分析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3200400"/>
                <a:gridCol w="3383280"/>
              </a:tblGrid>
              <a:tr h="914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排放源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主要来源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减排措施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电力消耗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提升/排水/通风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绿电替代+节能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柴油消耗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运输/工程设备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电动化替代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天然气燃烧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锅炉/取暖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热泵替代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炸药/耗材等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工艺优化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碳排放强度与减排潜力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618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【碳排放强度】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7190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当前：约 1.2 tCO2/万吨矿产品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1762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目标：2030年降至 0.65 tCO2/万吨矿产品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6334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</a:p>
        </p:txBody>
      </p:sp>
      <p:sp>
        <p:nvSpPr>
          <p:cNvPr id="12" name="Oval 11"/>
          <p:cNvSpPr/>
          <p:nvPr/>
        </p:nvSpPr>
        <p:spPr>
          <a:xfrm>
            <a:off x="457200" y="30906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【减排潜力分析】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12618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设备节能：可减排 30%（变频改造+能量回收）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17190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绿电替代：可减排 25%（光伏+储能+绿证）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0" y="21762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电动化替代：可减排 20%（电动车辆替代柴油）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0" y="2633472"/>
            <a:ext cx="109728" cy="1097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• 智能管控：可减排 10%（按需供能+精细管理）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零碳路径规划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零碳路径规划 - 近期/中期/远期目标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698480" cy="45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23160" y="3063240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8D4"/>
                </a:solidFill>
              </a:defRPr>
            </a:pPr>
            <a:r>
              <a:t>近期</a:t>
            </a:r>
            <a:br/>
            <a:r>
              <a:t>2023-2025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能效提升25%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提升机变频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通风智能控制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EMS平台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碳强度-18%</a:t>
            </a:r>
          </a:p>
        </p:txBody>
      </p:sp>
      <p:sp>
        <p:nvSpPr>
          <p:cNvPr id="12" name="Oval 11"/>
          <p:cNvSpPr/>
          <p:nvPr/>
        </p:nvSpPr>
        <p:spPr>
          <a:xfrm>
            <a:off x="6080759" y="3063240"/>
            <a:ext cx="274320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中期</a:t>
            </a:r>
            <a:br/>
            <a:r>
              <a:t>2026-2030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绿电占比40%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电动宽体车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储能系统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智能矿山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碳强度-45%</a:t>
            </a:r>
          </a:p>
        </p:txBody>
      </p:sp>
      <p:sp>
        <p:nvSpPr>
          <p:cNvPr id="19" name="Oval 18"/>
          <p:cNvSpPr/>
          <p:nvPr/>
        </p:nvSpPr>
        <p:spPr>
          <a:xfrm>
            <a:off x="9738360" y="3063240"/>
            <a:ext cx="274320" cy="27432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10972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28B22"/>
                </a:solidFill>
              </a:defRPr>
            </a:pPr>
            <a:r>
              <a:t>远期</a:t>
            </a:r>
            <a:br/>
            <a:r>
              <a:t>2031-2035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645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碳中和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100%电动化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377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100%绿电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7432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智慧零碳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碳汇抵消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00"/>
                </a:solidFill>
              </a:defRPr>
            </a:pPr>
            <a:r>
              <a:t>效益分析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效益分析 - 经济/社会/环境效益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78D4"/>
                </a:solidFill>
              </a:defRPr>
            </a:pPr>
            <a:r>
              <a:t>💰 经济效益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2743200" cy="2743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9933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年节能收益约X万元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505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谷电利用降低成本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077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设备寿命延长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364992"/>
            <a:ext cx="91440" cy="9144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碳交易收益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8C00"/>
                </a:solidFill>
              </a:defRPr>
            </a:pPr>
            <a:r>
              <a:t>🏭 社会效益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737360"/>
            <a:ext cx="274320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19933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改善井下作业环境</a:t>
            </a:r>
          </a:p>
        </p:txBody>
      </p:sp>
      <p:sp>
        <p:nvSpPr>
          <p:cNvPr id="18" name="Oval 17"/>
          <p:cNvSpPr/>
          <p:nvPr/>
        </p:nvSpPr>
        <p:spPr>
          <a:xfrm>
            <a:off x="4297680" y="24505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提升安全生产水平</a:t>
            </a:r>
          </a:p>
        </p:txBody>
      </p:sp>
      <p:sp>
        <p:nvSpPr>
          <p:cNvPr id="20" name="Oval 19"/>
          <p:cNvSpPr/>
          <p:nvPr/>
        </p:nvSpPr>
        <p:spPr>
          <a:xfrm>
            <a:off x="4297680" y="29077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行业示范引领</a:t>
            </a:r>
          </a:p>
        </p:txBody>
      </p:sp>
      <p:sp>
        <p:nvSpPr>
          <p:cNvPr id="22" name="Oval 21"/>
          <p:cNvSpPr/>
          <p:nvPr/>
        </p:nvSpPr>
        <p:spPr>
          <a:xfrm>
            <a:off x="4297680" y="3364992"/>
            <a:ext cx="91440" cy="914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助力地方经济绿色发展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8B22"/>
                </a:solidFill>
              </a:defRPr>
            </a:pPr>
            <a:r>
              <a:t>🌱 环境效益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737360"/>
            <a:ext cx="2743200" cy="2743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79" y="19933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年减碳X万吨</a:t>
            </a:r>
          </a:p>
        </p:txBody>
      </p:sp>
      <p:sp>
        <p:nvSpPr>
          <p:cNvPr id="28" name="Oval 27"/>
          <p:cNvSpPr/>
          <p:nvPr/>
        </p:nvSpPr>
        <p:spPr>
          <a:xfrm>
            <a:off x="7955279" y="24505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3774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粉尘减排X吨</a:t>
            </a:r>
          </a:p>
        </p:txBody>
      </p:sp>
      <p:sp>
        <p:nvSpPr>
          <p:cNvPr id="30" name="Oval 29"/>
          <p:cNvSpPr/>
          <p:nvPr/>
        </p:nvSpPr>
        <p:spPr>
          <a:xfrm>
            <a:off x="7955279" y="29077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8346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噪音污染降低</a:t>
            </a:r>
          </a:p>
        </p:txBody>
      </p:sp>
      <p:sp>
        <p:nvSpPr>
          <p:cNvPr id="32" name="Oval 31"/>
          <p:cNvSpPr/>
          <p:nvPr/>
        </p:nvSpPr>
        <p:spPr>
          <a:xfrm>
            <a:off x="7955279" y="3364992"/>
            <a:ext cx="91440" cy="91440"/>
          </a:xfrm>
          <a:prstGeom prst="ellipse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32918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生态恢复治理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200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27432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3366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